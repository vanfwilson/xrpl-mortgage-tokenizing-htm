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t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5852160" cy="1828800"/>
          </a:xfrm>
          <a:prstGeom prst="rect">
            <a:avLst/>
          </a:prstGeom>
        </p:spPr>
      </p:pic>
      <p:pic>
        <p:nvPicPr>
          <p:cNvPr id="4" name="Picture 3" descr="mortgageos-lockup-t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14600"/>
            <a:ext cx="3840480" cy="13441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9776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Tokenize the note. Service it for thirty years.
Prove every payment on the XRP Ledger.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XRPL Grants proposal · $200,000 over 12 months · September 17, 2026</a:t>
            </a:r>
          </a:p>
          <a:p>
            <a:pPr algn="l"/>
            <a:r>
              <a:rPr sz="1600" b="0">
                <a:solidFill>
                  <a:srgbClr val="C99A2E"/>
                </a:solidFill>
                <a:latin typeface="Calibri"/>
              </a:rPr>
              <a:t>High Tech Mortgage, Inc. · California · Idaho · Metro Manila · Switzerland opening soon · v3.1 live on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 is the thirty years after closing, not the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A mortgage is a thirty-year credit asset. The legal note, the servicing books, the cash flows and the evidence trail must stay consistent across tax changes, servicing transfers and audits.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Escrow mistakes, misapplied payments and late tax disbursements are the most common servicing failures and the most expensive to remediate.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Property taxes change every year without warning; the servicer must still pay the bill in full and on time (12 CFR 1024.17(k)) and recover through the annual analysis.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0B2545"/>
                </a:solidFill>
                <a:latin typeface="Calibri"/>
              </a:rPr>
              <a:t>•  Incumbent servicing systems cost $10 to $30 per loan per month and expose no evidence an examiner can verify independently.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371600"/>
            <a:ext cx="4023360" cy="4206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50876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35BA6"/>
                </a:solidFill>
                <a:latin typeface="Calibri"/>
              </a:rPr>
              <a:t>What a servicer does every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116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credit the payment as of the day received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remit P&amp;I to the bank that owns the note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reserve tax and hazard insurance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pay county and carrier on statutory dates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analyse escrow once a year, send statements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555F6B"/>
                </a:solidFill>
                <a:latin typeface="Calibri"/>
              </a:rPr>
              <a:t>•  keep the books and the evidence in agreement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built: MortgageOS™ tokenization + servicing layer v3.1 (open source, MIT)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note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one Multi-Purpose Token issuance per loan: the note's digital twin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supply = face value in cents, held by the lender for 30 years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CanEscrow + CanTransfer + CanLock + RequireAuth; the issuer cannot take units back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XLS-89d metadata: fixed terms, manifest hash, IPFS CID slot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Guarded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DepositAuth on the issuer, the lender and the impound account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DepositPreauth for the borrower and the counterparties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only authorized institutions can hold the asset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issuer can place a holding on hold and release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The payment 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fixed P&amp;I and impound legs as TokenEscrow of a settlement MPT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FinishAfter = due date; destination finishes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split + regulatory markers in the memo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each validated finish = on-chain proof of payment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280160"/>
            <a:ext cx="27432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1280160"/>
            <a:ext cx="2743200" cy="502920"/>
          </a:xfrm>
          <a:prstGeom prst="rect">
            <a:avLst/>
          </a:prstGeom>
          <a:solidFill>
            <a:srgbClr val="13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3258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System of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1874519"/>
            <a:ext cx="2560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PostgreSQL: loans, issuances, 360-row schedule, every tx with state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outstanding principal in the books, never on the ledger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log of every failed broadcast and timeout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sweep re-reads every payment proof from the ledger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ledger does, and what it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35BA6"/>
                </a:solidFill>
                <a:latin typeface="Calibri"/>
              </a:rPr>
              <a:t>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holds one note asset per loan with the lending institution at face value: the right to the fixed P&amp;I cash flow, transferable only between authorized institutions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settles every fixed P&amp;I and impound leg to the cent under a date lock, with the split in the memo and no personal data; each validated finish is a proof of payment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refuses payments from anyone not pre-authorized; can place a holding on hold for a dispute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keeps every transaction, proof, error code and timeout in an audit trail an examiner can open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8463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C99A2E"/>
                </a:solidFill>
                <a:latin typeface="Calibri"/>
              </a:rPr>
              <a:t>Does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decide what the borrower owes: outstanding principal and the escrow analysis are the servicer's 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replace the Note, Deed of Trust, lien, county record or custodial 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sell the asset to the public or raise capital; the borrower's consumer obligation is untouched by anything the lender does with 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prove legal compliance, payee receipt, document validity or custody by itself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Live proof on XRPL Testnet: v3 verification run, September 11,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1: DepositAuth and Preauth set and read back; the note asset minted with CanEscrow, CanTransfer, CanLock and RequireAuth, its metadata carrying the fixed terms; the lender authorized and delivered 45,000,000 units (face value); ledger issuance id equals the database row.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2: a strict fixed-rate schedule (identical P&amp;I for 360 periods) written to PostgreSQL; P&amp;I ($2,844.31, to the lender) and impound ($655.21) legs escrowed with the split in the memo; both finished on the due date with tesSUCCESS; books reduced by $406.81 while the on-ledger face value stayed 45,000,000; asset hold placed and released.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Audit sweep: both finish transactions re-read from the ledger, validated tesSUCCESS, ledger index stamped on the payment rows.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Phase 3: a forced ledger error (tecPATH_PARTIAL) and a forced network timeout both caught, written to the audit log with the raw code and full envelope, engine exits cleanly.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280160"/>
          <a:ext cx="4114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MPT issuances (note asset + settlement)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Note held by lender at face value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45,000,000 units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Escrow legs finished on date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 of 2, tesSUCCESS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Payment proofs re-verified on-ledger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 of 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Asset hold, release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tesSUCCESS, tesSUCCESS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Books after month 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$449,593.19 (off-ledger)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Forced errors triaged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tecPATH_PARTIAL, timeout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Pending transactions after run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4480560"/>
            <a:ext cx="4114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F6B"/>
                </a:solidFill>
                <a:latin typeface="Calibri"/>
              </a:rPr>
              <a:t>Only amendments live on Mainnet: MPTokensV1, TokenEscrow, DepositAuth, DepositPreauth. Evidence: docs/evidence/v3/.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month of servicing, to the cent (fixture: 30-year fixed, $450,000 at 6.5 %)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37744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Figure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Note face value = token supply, constant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$450,000.00 = 45,000,000 units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P&amp;I, identical every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$2,844.31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Month-1 interest / principal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$2,437.50 / $406.81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Tax impound (1/12 of $6,062.50)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$505.21 / month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Hazard impound (1/12 of $1,800.00)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$150.00 / month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Monthly payment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$3,499.52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Outstanding after month 1 (books only)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$449,593.19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Strict 30-year fixed framework: the payment is rounded up to the cent and every period is identical; the schedule builder refuses anything else.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RESPA 12 CFR 1024.17: impounds are one-twelfth of the last actual annual bill; a bill above what was collected is advanced by the servicer and recovered at the next analysis.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borrower escrows both legs; each escrow cannot be finished before its due date on the ledger itself, and each validated finish is the proof of payment.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note asset never changes: amortization is a servicing figure in the books, so a holder's position is exactly what the ledger says it 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Regulation as code: what the core enforces today and what is built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9768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Core today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Built on the core during M2–M3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RESPA 12 CFR 1024.17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rolling 1/12 impound collection, servicer advance on shortfall, date-locked disbursement, markers in every memo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aggregate analysis with one-sixth cushion, surplus / shortage / deficiency options, initial and annual statements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1024.33, .35-.41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payment proofs and audit trail as the evidence base; asset hold for disputes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transfer notices and 60-day grace, notice of error, information requests, force-placed insurance, early intervention, loss mitigation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Regulation Z 1026.36(c), .41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receipt-dated settlement events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periodic statement content, ownership-transfer notice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Licensing, GLBA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no PII on the ledger; no operator keys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boarding gate on a current servicing authority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IRS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interest per period in the schedule and memo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Form 1098 (26 U.S.C. § 6050H)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Loans are documented on the Fannie Mae/Freddie Mac Uniform Instruments (Form 3200 note, Form 3005 California deed of trust) and serviced to the Fannie Mae Servicing Guide (B-1-01 escrow administration, C-1.1-01 payment processing). The core is graded by a live suite that ends in an audit sweep and prints a single pass string only when every phase passed.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Settlement safety: one submit path, every failure in the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Every transaction goes through one function: autofill and sign once, record it Pending with its hash and full envelope, submit, record Confirmed or Failed with the ledger result.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tec / tef / tem codes and network timeouts are triaged, never crash the loop, and are written to the audit log with the raw code and the envelope for review.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Postgres is authoritative for servicing; the ledger is evidence. The audit sweep re-reads every payment proof from the ledger and checks the lender still holds the note at face value; a miss is an incident, not a silent state.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The code refuses Mainnet endpoints. All runs are on the public Testnet with a self-issued test USD.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35BA6"/>
                </a:solidFill>
                <a:latin typeface="Calibri"/>
              </a:rPr>
              <a:t>Evidence an examiner can 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mortgageos.ledger_transactions: hash, type, account, state, result code, ledger index, parsed memo, envelope, meta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mortgageos.escrow_legs: owner, destination, units, FinishAfter, create and finish hashes, proof ledger index and verification time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mortgageos.audit_log: phase, error code, error text, envelope, timestamp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B2545"/>
                </a:solidFill>
                <a:latin typeface="Calibri"/>
              </a:rPr>
              <a:t>•  mortgageos.loans: outstanding principal, the number the ledger is reconciled 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a loan-year costs on 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645920"/>
              </a:tblGrid>
              <a:tr h="320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Production footprint per loan-year (v3)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Transactions (4 per month + boarding)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60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Fees (10 drops each)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600 drops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Owner reserve parked (2 MPToken objects, refundable)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about 0.4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Escrow reserve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transient, released on finish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All-in per loan-month at $5 / XRP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under $0.20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Fees are negligible at any plausible price; the only material line is the refundable reserve.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Priced as an evidence and settlement add-on at $0.50 to $1.50 per loan per month on top of the servicing fee. Incumbent platforms charge $10 to $30 per loan per month.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 operate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High Tech Mortgage, Inc.: licensed California mortgage broker (DFPI and DRE) with offices in California, Idaho and Metro Manila, a Swiss office opening soon, and Manila as the operations centre.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Loans: standard conventional 30-year fixed-rate residential loans on the Fannie Mae/Freddie Mac Uniform Instruments (Form 3200, Form 3005), serviced to the Fannie Mae Servicing Guide and the CFPB rules under Regulation X and Regulation 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No capital raising and no sale of interests to the public. The note asset moves only between authorized institutions; the borrower's obligation is untouched by 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B2545"/>
                </a:solidFill>
                <a:latin typeface="Calibri"/>
              </a:rPr>
              <a:t>•  The Manila team executes servicing tasks under dual control in all three models and never holds signing keys.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1508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A: servicer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373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HTM services its own clients' loans under its California licences through a servicing entity kept separate from the brokerage.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880360"/>
            <a:ext cx="5303520" cy="15087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B: bank's servicing contractor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33756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A lending bank is the official servicer and keeps banking compliance and liability; HTM runs servicing operations and the technology. Several banks have asked for exactly this.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480560"/>
            <a:ext cx="5303520" cy="16002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5262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35BA6"/>
                </a:solidFill>
                <a:latin typeface="Calibri"/>
              </a:rPr>
              <a:t>Model C: shareholder in a Philippine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B2545"/>
                </a:solidFill>
                <a:latin typeface="Calibri"/>
              </a:rPr>
              <a:t>HTM intends a 40% position in a small provincial bank near Clark International Airport; the bank originates and owns the loans and MortgageOS services them on XRPL. A partner is invited for up to 20%.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Twelve-month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822960"/>
                <a:gridCol w="6949440"/>
                <a:gridCol w="292608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1-2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Counsel memos (note asset under UCC 3/9, ESIGN/UETA, securities; CA residential carve-outs; Idaho; custodial asset); first bank servicing contract or LOI; key-management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memos, LOI, runbook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2-4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Aggregate escrow analysis (12 CFR 1024.17) and periodic statements (12 CFR 1026.41) on the core; live tax-bill source behind an operator verification gate; IPFS pinning with the CID verified in the asset metadata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control tests, verified-bill trail, CID checks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4-7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Live custodial statements and three-way reconciliation; 1024.35-.41 case workflows with SLA evidence; dual-control task queue for Manila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reconciliation reports, fixtures, queue log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6-9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Production key management (HSM, 2-of-3, rotation drills); settlement-asset decision with RLUSD / institutional teams; Mainnet dry-run criteria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drill logs, decision record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M5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8-10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Controlled pilot on real, redacted loan files with the contracting bank; Form 1098 season dry run; evidence packs to the bank's examiner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report, examiner feedback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9-11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XLS-65 / XLS-66 readiness study on Devnet (vault deposit and collateral flows with the note asset); asset-liability policy questions written for the bank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Devnet run record, policy memo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M7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11-12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Independent security review; public technical paper; refreshed demo; Mainnet go/no-go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review notes, paper, video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Budget $200,000 and grant-period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6035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28016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Workstream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XRPL settlement and evidence engineering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$60,000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and data engineering (escrow analysis, statements, cases and Form 1098 on the core; bank receipts; tax-bill source; queue)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$50,000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Security and independent technical review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Legal and regulatory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Document and AI ingestion (closing-package scanner, IPFS manifest pinning)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Pilot infrastructure and testing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$15,000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Developer docs and open-source components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$7,000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28016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By month 12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T="30000" marB="30000">
                    <a:solidFill>
                      <a:srgbClr val="135BA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Boarded loan records (test and pilot)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Ledger transactions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Servicing events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Counterparties engaged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Payment proofs re-verified on-ledger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T="30000" marB="300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65760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Funding gates: build and integration (M1-M3) 30 %, $60,000; usage and pilot (M4-M7) 70 %, $140,000. Checkpoints at months 4, 7, 10 and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not yet true, stated plainly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bank has signed a servicing contract yet; the operating assumptions are ours.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Counsel has not yet characterized the note asset (UCC 3/9 negotiability and perfection, eNote / ESIGN / UETA / MERS, securities); until then it stays RequireAuth with only the originating lender authorized.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XLS-65 / XLS-66 are on Devnet only; vault deposit and collateral use are a readiness study (M6), not a feature. Funding 30-year notes with short-term liabilities is the bank's asset-liability decision.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production stablecoin can be escrowed today (RLUSD issuers do not allow trust-line locking); the settlement asset is a self-issued test USD MPT and an open decision.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California residential consumer-protection carve-outs and the Idaho servicing posture go to counsel before a live loan.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Tax and hazard bills in the runs are fixture values; production needs a live bill source behind an operator verification gate (M2).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loan manifest is hashed into the record but not yet pinned to IPFS; the CID slot is an operator step until a pinning service is on file (M2).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The core settles and proves payments today; aggregate escrow analysis, periodic statements, case workflows and Form 1098 are built on it during M2–M3 and M5.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B2545"/>
                </a:solidFill>
                <a:latin typeface="Calibri"/>
              </a:rPr>
              <a:t>•  No borrower portal or operator web UI yet: the product surface is the command line and the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Team (as published at hightechmortgage.com/about)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ch-young-hightechmortg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071562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Rich Young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Founder, President and Lead Broker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California DRE Broker's License #01106294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California Mortgage Broker NMLS #291547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30+ years Bay Area real estate and mortgage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Owns origination, servicing and compliance obligations; licensed principal in the two U.S. operating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van-wilson-hightechmortg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25880"/>
            <a:ext cx="1589345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8328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Dr Van Wilson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Data Science, AI and Blockchain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20+ years in data science, mostly in finance; secret clearance while at the U.S. SEC and Fannie Mae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Fannie Mae: built the ML model forecasting mortgage payments after the COVID payment freeze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MIT post-graduate degree in data science and AI (2022); CSU Fullerton BS; AWS, Databricks, Blockchain Training Alliance, Microsoft Certified Trainer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Real-estate investor since 1998, 120+ transactions, $10M+ portfolio; designed and wrote MortgageOS · linkedin.com/in/drvanwilson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rish-wilson-hightechmortg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5880"/>
            <a:ext cx="1362400" cy="1463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Trish Wilson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Real Estate, Finance and PH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Active licensed US Realtor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Philippine Real Estate Broker PRC 0024025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Former CPA and banker (St. Paul University, BA Accounting); Int'l Certified Financial Consultant; recruited by Megaworld as International Marketing Director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Leads Manila servicing operations under dual control; accounting review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1188720"/>
            <a:ext cx="2788920" cy="52120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ill-thompson-hightechmortg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1325880"/>
            <a:ext cx="1463040" cy="1463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00" y="28346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2545"/>
                </a:solidFill>
                <a:latin typeface="Calibri"/>
              </a:rPr>
              <a:t>Bill Thompson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2724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35BA6"/>
                </a:solidFill>
                <a:latin typeface="Calibri"/>
              </a:rPr>
              <a:t>Operations, IT and Business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61188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ITIL v4; Six Sigma Quality; CompTIA A+; TOPCIT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Practical Project Mgmt; URAC; FranklinCovey Mgmt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Ateneo Graduate School of Business; CSU Dominguez Hills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555F6B"/>
                </a:solidFill>
                <a:latin typeface="Calibri"/>
              </a:rPr>
              <a:t>•  Operations, infrastructure and process discipline; dual-control task queue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2004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C99A2E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4710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Calibri"/>
              </a:rPr>
              <a:t>High Tech Mortgage, Inc. · MortgageOS™ tokenization + servicing layer v3.1 · XRPL Grants proposal · September 11, 2026 · github.com/vanfwilson/xrpl-mortgage-tokenizing-htm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$200,000 of milestone-gated funding over 12 months for the plan on slides 11 and 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A partner for up to a 20% share of the provincial bank acquisition near Clark, so the acquisition and the XRPL rollout move faster.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Introductions to banks that outsource servicing operations, and to the RLUSD / institutional team on the custodial-asset question.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Everything stays open source: the mortgageos schema, the note-asset MPT pattern and metadata, the memo format, the transaction builders, the payment-proof and audit-log contract.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B2545"/>
                </a:solidFill>
                <a:latin typeface="Calibri"/>
              </a:rPr>
              <a:t>•  Repository: github.com/vanfwilson/xrpl-mortgage-tokenizing-htm (branch v3)  ·  Evidence: docs/evidence/v3/  ·  Proposal: docs/grant-proposal-2026-09-11.pdf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120640"/>
            <a:ext cx="10972800" cy="9144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55F6B"/>
                </a:solidFill>
                <a:latin typeface="Calibri"/>
              </a:rPr>
              <a:t>High Tech Mortgage, Inc. · 730 I Street, Sacramento, CA 95814 · 19F Marco Polo Ortigas, Pasig City, Metro Manila · info@hightechmortgage.com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