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t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5852160" cy="1828800"/>
          </a:xfrm>
          <a:prstGeom prst="rect">
            <a:avLst/>
          </a:prstGeom>
        </p:spPr>
      </p:pic>
      <p:pic>
        <p:nvPicPr>
          <p:cNvPr id="4" name="Picture 3" descr="mortgageos-lockup-t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514600"/>
            <a:ext cx="3840480" cy="13441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3977639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Service a residential mortgage for thirty years.
Prove every dollar on the XRP Ledger.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57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9A2E"/>
                </a:solidFill>
                <a:latin typeface="Calibri"/>
              </a:rPr>
              <a:t>XRPL Grants proposal · $200,000 over 12 months · September 11, 2026</a:t>
            </a:r>
          </a:p>
          <a:p>
            <a:pPr algn="l"/>
            <a:r>
              <a:rPr sz="1600" b="0">
                <a:solidFill>
                  <a:srgbClr val="C99A2E"/>
                </a:solidFill>
                <a:latin typeface="Calibri"/>
              </a:rPr>
              <a:t>High Tech Mortgage, Inc. · Sacramento, California · Metro Manila, Philippines · v3.0.0 live on Testnet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problem is the thirty years after closing, not the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v3.0.0 · XRPL Grants proposal · September 11,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A mortgage is a thirty-year credit asset. The legal note, the servicing books, the cash flows and the evidence trail must stay consistent across tax changes, servicing transfers and audits.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Escrow mistakes, misapplied payments and late tax disbursements are the most common servicing failures and the most expensive to remediate.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Property taxes change every year without warning; the servicer must still pay the bill in full and on time (12 CFR 1024.17(k)) and recover through the annual analysis.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Incumbent servicing systems cost $10 to $30 per loan per month and expose no evidence an examiner can verify independently.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371600"/>
            <a:ext cx="4023360" cy="42062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50876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What a servicer does every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0116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credit the payment as of the day received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remit P&amp;I to the bank that owns the note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reserve tax and hazard insurance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pay county and carrier on statutory dates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analyse escrow once a year, send statements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keep the books and the evidence in agreement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we built: MortgageOS™ servicing layer v3.0.0 (open source, MIT)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v3.0.0 · XRPL Grants proposal · September 11,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Record of account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one Multi-Purpose Token issuance per loan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supply = principal in cents, AssetScale 2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lock, clawback, escrow allowed; transfer never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XLS-89d metadata: manifest hash + IPFS CID slot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Guarded accounts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DepositAuth on the issuer and both custodial accounts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DepositPreauth for the servicer and the borrower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the borrower never pays the issuer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record locked while a period is unsettled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Settlement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P&amp;I and impound legs as TokenEscrow of a settlement MPT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FinishAfter = due date; destination finishes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split + regulatory markers in the memo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monthly clawback: on-ledger balance == outstanding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9828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9828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System of record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PostgreSQL schema: loans, issuances, every tx with state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Pending → Confirmed / Failed, full envelope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audit log of every failed broadcast and timeout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reconciliation sweep, ledger vs books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the ledger does, and what it does not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v3.0.0 · XRPL Grants proposal · September 11,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4864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35BA6"/>
                </a:solidFill>
                <a:latin typeface="Calibri"/>
              </a:rPr>
              <a:t>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holds one non-transferable record of account per loan; its balance is the outstanding principal, reconciled to the books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settles every P&amp;I and impound leg to the cent under a date lock, with the split in the memo and no personal data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refuses payments from anyone not pre-authorized; freezes the record while a period is unsettled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keeps every transaction, error code and timeout in an audit trail an examiner can open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4864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C99A2E"/>
                </a:solidFill>
                <a:latin typeface="Calibri"/>
              </a:rPr>
              <a:t>Does not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decide what the borrower owes: the servicer's books in the bank's custodial accounts are authoritative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replace the Note, Deed of Trust, lien, county record or custodial accounts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tokenize the note, sell interests in loans, or raise capital: the record has no CanTransfer flag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prove legal compliance, payee receipt, document validity or custody by itself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Live proof on XRPL Testnet: v3 verification run, September 11,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v3.0.0 · XRPL Grants proposal · September 11,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6949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Phase 1: DepositAuth and Preauth set and read back; record MPT minted with flags 0x4e (lock, require-auth, escrow, clawback; no transfer); servicer authorized and delivered 45,000,000 units; ledger issuance id equals the database row.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Phase 2: schedule read from PostgreSQL; P&amp;I ($2,844.31) and impound ($655.21) legs escrowed with the split in the memo; record locked; both escrows finished on the due date with tesSUCCESS; $406.81 of principal clawed back; on-ledger balance 44,959,319 == database outstanding.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Phase 3: a forced ledger error (tecPATH_PARTIAL) and a forced network timeout both caught, written to the audit log with the raw code and full envelope, engine exits cleanly.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Independent evaluator re-ran the suite from a clean context: 12 of 12 criteria passed.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80960" y="1280160"/>
          <a:ext cx="41148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73736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Proof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Confirmed transactions per run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MPT issuances (record + settlement)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Escrow legs finished on date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 of 2, tesSUCCESS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Clawback = month-1 principal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40,681 units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Lock, unlock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tesSUCCESS, tesSUCCESS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Ledger balance = books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44,959,319 = 44,959,319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Forced errors triaged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tecPATH_PARTIAL, timeout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Pending transactions after run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0" y="4480560"/>
            <a:ext cx="4114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F6B"/>
                </a:solidFill>
                <a:latin typeface="Calibri"/>
              </a:rPr>
              <a:t>Only amendments live on Mainnet: MPTokensV1, TokenEscrow, Clawback, DepositAuth, DepositPreauth. Evidence: docs/evidence/v3/.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One month of servicing, to the cent (fixture: 30-year fixed, $450,000 at 6.5 %)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v3.0.0 · XRPL Grants proposal · September 11,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6692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Figure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Principal = record supply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$450,000.00 = 45,000,000 units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P&amp;I, fixed for the life of the loan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$2,844.31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Month-1 interest / principal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$2,437.50 / $406.81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Tax impound (1/12 of $6,062.50)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$505.21 / month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Hazard impound (1/12 of $1,800.00)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$150.00 / month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Monthly payment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$3,499.52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Outstanding after month 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$449,593.19 = 44,959,319 units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RESPA 12 CFR 1024.17: impounds are one-twelfth of the last actual annual bill; a bill above what was collected is advanced by the servicer and recovered at the next analysis.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The borrower escrows both legs; each escrow cannot be finished before its due date on the ledger itself.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After settlement the issuer claws back exactly the principal portion, so the record's balance is the outstanding principal, and the reconciliation sweep proves it against the books.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The offline test checks the payment against the closed-form annuity to the cent and that 360 principal portions sum to the principal exactly.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Regulation as code: what v3 enforces today and what is ported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v3.0.0 · XRPL Grants proposal · September 11,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206240"/>
                <a:gridCol w="429768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v3.0 today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Ported from v2 during M2–M3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RESPA 12 CFR 1024.17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rolling 1/12 impound collection, servicer advance on shortfall, date-locked disbursement, markers in every memo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aggregate analysis with one-sixth cushion, surplus / shortage / deficiency options, initial and annual statements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1024.33, .35-.41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record lock and audit trail as the evidence base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transfer notices and 60-day grace, notice of error, information requests, force-placed insurance, early intervention, loss mitigation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Regulation Z 1026.36(c), .41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receipt-dated settlement events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periodic statement content, ownership-transfer notice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Licensing, GLBA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no PII on the ledger; no operator keys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boarding gate on a current servicing authority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IRS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interest per period in the schedule and memo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Form 1098, 1099-INT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1206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The v2 control map (R01–R31, 127 named tests) is archived on main and is the porting roadmap, not a v3 feature. v3 is graded by a live suite that ends in a reconciliation sweep and prints a single pass string only when every phase passed.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Settlement safety: one submit path, every failure in the audit 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v3.0.0 · XRPL Grants proposal · September 11,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Every transaction goes through one function: autofill and sign once, record it Pending with its hash and full envelope, submit, record Confirmed or Failed with the ledger result.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tec / tef / tem codes and network timeouts are triaged, never crash the loop, and are written to the audit log with the raw code and the envelope for review.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Postgres is authoritative; the ledger is evidence. A sweep compares outstanding principal to the on-ledger balance; a mismatch is an incident, not a silent state.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The code refuses Mainnet endpoints. All runs are on the public Testnet with a self-issued test USD.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35BA6"/>
                </a:solidFill>
                <a:latin typeface="Calibri"/>
              </a:rPr>
              <a:t>Evidence an examiner can 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mortgageos.ledger_transactions: hash, type, account, state, result code, ledger index, parsed memo, envelope, meta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mortgageos.escrow_legs: owner, destination, units, FinishAfter, create and finish hashes, status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mortgageos.audit_log: phase, error code, error text, envelope, timestamp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mortgageos.loans: outstanding principal, the number the ledger is reconciled 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a loan-year costs on the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v3.0.0 · XRPL Grants proposal · September 11,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64592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Production footprint per loan-year (v3)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Transactions (7 per month + boarding)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about 90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Fees burned (10 drops each)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about 900 drops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Owner reserve parked (2 MPToken objects, refundable)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about 0.4 XRP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Escrow reserve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transient, released on finish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All-in per loan-month at $5 / XRP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under $0.20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6576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Fees are negligible at any plausible price; the only material line is the refundable reserve.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Priced as an evidence and settlement add-on at $0.50 to $1.50 per loan per month on top of the servicing fee. Incumbent platforms charge $10 to $30 per loan per month.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Who we are and how we operate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v3.0.0 · XRPL Grants proposal · September 11,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High Tech Mortgage, Inc.: licensed California mortgage broker (DFPI and DRE), Sacramento, with an operations centre in Manila.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Loans: standard Fannie Mae uniform-instrument, fixed-rate, 30-year residential, funded and owned by banks under contract.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capital raising, no investors, no interests in loans sold. The record of account cannot be transferred.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The Manila team executes servicing tasks under dual control and never holds signing keys.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303520" cy="21945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Model A: servicer of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49377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B2545"/>
                </a:solidFill>
                <a:latin typeface="Calibri"/>
              </a:rPr>
              <a:t>HTM services its own clients' loans under its California licences through a servicing entity kept separate from the brokerage.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749039"/>
            <a:ext cx="5303520" cy="2286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38404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Model B: bank's servicing contractor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B2545"/>
                </a:solidFill>
                <a:latin typeface="Calibri"/>
              </a:rPr>
              <a:t>A lending bank is the official servicer and keeps banking compliance and liability; HTM runs servicing operations and the technology. Several banks have asked for exactly this.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Twelve-month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v3.0.0 · XRPL Grants proposal · September 11,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822960"/>
                <a:gridCol w="6949440"/>
                <a:gridCol w="292608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1-2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Counsel memos (CA residential carve-outs, Idaho, custodial asset); first bank servicing contract or LOI; key-management runbook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memos, LOI, runbook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2-4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Port the v2 aggregate analysis and statements onto the v3 core; live tax-bill source behind an operator verification gate; IPFS pinning with the CID verified in the record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ported tests, verified-bill trail, CID checks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4-7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Live custodial statements and three-way reconciliation; 1024.35-.41 case workflows with SLA evidence; dual-control task queue for Manila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reconciliation reports, fixtures, queue log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6-9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Production key management (HSM, 2-of-3, rotation drills); settlement-asset decision with RLUSD / institutional teams; Mainnet dry-run criteria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drill logs, decision record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8-10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Controlled pilot on real, redacted loan files with the contracting bank; Form 1098 season dry run; evidence packs to the bank's examiner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pilot report, examiner feedback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9-11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Second-jurisdiction abstraction: legal layer separated from the engine, mapped for the Manila operation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jurisdiction matrix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11-12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Independent security review; public technical paper; refreshed demo; Mainnet go/no-go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review notes, paper, video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Budget $200,000 and grant-period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v3.0.0 · XRPL Grants proposal · September 11,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60350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28016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XRPL settlement and evidence engineering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$60,000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Servicing and data engineering (porting v2 controls, bank receipts, tax-bill source, cases, PDFs, queue)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$50,000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Security and independent technical review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Legal and regulatory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Document and AI ingestion (scanner port, IPFS manifest pinning)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Pilot infrastructure and testing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Developer docs and open-source components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$7,000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Contingency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$3,000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280160"/>
          <a:ext cx="49377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By month 12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Boarded loan records (test and pilot)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Ledger transactions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Servicing events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Counterparties engaged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Reconciliation accuracy vs benchmark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99 %+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66560" y="365760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Funding gates: build and integration (M1-M3) 30 %, $60,000; usage and pilot (M4-M7) 70 %, $140,000. Checkpoints at months 4, 7, 10 and 12.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is not yet true, stated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v3.0.0 · XRPL Grants proposal · September 11,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No bank has signed a servicing contract yet; the operating assumptions are ours.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No production stablecoin can be escrowed today (RLUSD issuers do not allow trust-line locking); the settlement asset is a self-issued test USD MPT and an open decision.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California residential consumer-protection carve-outs and the Idaho servicing posture go to counsel before a live loan.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Tax and hazard bills in the runs are fixture values; production needs a live bill source behind an operator verification gate (M2).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The loan manifest is hashed into the record but not yet pinned to IPFS; the CID slot is an operator step until a pinning service is on file (M2).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v3 does not yet include the v2 statements, aggregate analysis with cushion, case workflows or Form 1098; they are archived on main and ported in M2–M3.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No borrower portal or operator web UI yet: the product surface is the command line and the database.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Team (as published at hightechmortgage.com/about)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v3.0.0 · XRPL Grants proposal · September 11,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ch-young-hightechmortg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1071562" cy="1463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Rich Young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Founder, President and Lead 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California DRE Broker's License #01106294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California Mortgage Broker NMLS #291547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30+ years Bay Area real estate and mortgage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Owns origination, servicing and compliance obligations; licensed principal in both operating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van-wilson-hightechmortg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325880"/>
            <a:ext cx="1589345" cy="1463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8328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Dr Van Wilson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Data Science, AI and Blockchain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20+ years in data science, mostly in finance; secret clearance while at the U.S. SEC and Fannie Mae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Fannie Mae: built the ML model forecasting mortgage payments after the COVID payment freeze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MIT post-graduate degree in data science and AI (2022); CSU Fullerton BS; AWS, Databricks, Blockchain Training Alliance, Microsoft Certified Trainer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Real-estate investor since 1998, 120+ transactions, $10M+ portfolio; built v2.0 and v3.0 · linkedin.com/in/drvanwilson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ish-wilson-hightechmortg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325880"/>
            <a:ext cx="1362400" cy="1463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Trish Wilson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Real Estate, Finance and PH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Active licensed US Realtor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Philippine Real Estate Broker PRC 0024025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CPA (St. Paul University, BA Accounting); Int'l Certified Financial Consultant; ex-internal auditor, Philippine Airlines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Leads Manila servicing operations under dual control; accounting 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ill-thompson-hightechmortg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1325880"/>
            <a:ext cx="1463040" cy="1463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4400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Bill Thompson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Operations, IT and Business Management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ITIL v4; Six Sigma Quality; CompTIA A+; TOPCIT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Practical Project Mgmt; URAC; FranklinCovey Mgmt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Ateneo Graduate School of Business; CSU Dominguez Hills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Operations, infrastructure and process discipline; dual-control task queue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v3.0.0 · XRPL Grants proposal · September 11,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B2545"/>
                </a:solidFill>
                <a:latin typeface="Calibri"/>
              </a:rPr>
              <a:t>$200,000 of milestone-gated funding over 12 months for the plan on slides 11 and 12.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Introductions to banks that outsource servicing operations, and to the RLUSD / institutional team on the custodial-asset question.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Everything stays open source: the mortgageos schema, the record-of-account MPT pattern, the memo format, the transaction builders, the audit-log contract.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Repository: github.com/vanfwilson/xrpl-mortgage-tokenizing-htm (branch v3)  ·  Evidence: docs/evidence/v3/  ·  Proposal: docs/grant-proposal-2026-09-11.pdf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212080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High Tech Mortgage, Inc. · 730 I Street, Sacramento, CA 95814 · 19F Marco Polo Ortigas, Pasig City, Metro Manila · info@hightechmortgage.com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