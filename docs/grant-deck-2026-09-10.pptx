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5852160" cy="1828800"/>
          </a:xfrm>
          <a:prstGeom prst="rect">
            <a:avLst/>
          </a:prstGeom>
        </p:spPr>
      </p:pic>
      <p:pic>
        <p:nvPicPr>
          <p:cNvPr id="4" name="Picture 3" descr="mortgageos-lockup-t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3840480" cy="1344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9776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Service a residential mortgage for thirty years.
Prove every dollar on the XRP Ledger.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XRPL Grants proposal · $200,000 over 12 months · September 10, 2026</a:t>
            </a:r>
          </a:p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High Tech Mortgage, Inc. · Sacramento, California · Metro Manila, Philippines · v2.0.0 live on Testnet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 is the thirty years after closing, not the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A mortgage is a thirty-year credit asset. The legal note, the servicing books, the cash flows and the evidence trail must stay consistent across tax changes, servicing transfers and audits.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Escrow mistakes, misapplied payments and late tax disbursements are the most common servicing failures and the most expensive to remediate.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Property taxes change every year without warning; the servicer must still pay the bill in full and on time (12 CFR 1024.17(k)) and recover through the annual analysis.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Incumbent servicing systems cost $10 to $30 per loan per month and expose no evidence an examiner can verify independently.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371600"/>
            <a:ext cx="4023360" cy="4206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5087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What a servicer does 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116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credit the payment as of the day received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P&amp;I to the bank that owns the note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reserve tax and hazard insurance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FHA mortgage insurance to HUD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pay county and carrier on statutory dates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analyse escrow once a year, send statements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file Form 1098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built: MortgageOS™ servicing layer v2.0.0 (open source, 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Paper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23-page closing package printed, scanned, OCR'd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canonical loan record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every figure tied out to the cent; the run stops on any disagreement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Servicing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receipt-date application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12 CFR 1024.17 aggregate analysis with exact (f)(2)-(f)(4) options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advance-first disbursement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statements, cases, transfers, Form 1098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R01-R31 as code, one named test 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XRP 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exact-cent issued-USD legs, signed once, journaled, never re-signed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one NFToken loan-record handle (hash + opaque id)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TokenEscrow date lock on every verified bill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2-of-3 signer lists, key drills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contract, three-way match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 hash-chained event log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examiner evidence pack with SHA-256 manifest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cost model per loan-year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the ledger does, and 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35BA6"/>
                </a:solidFill>
                <a:latin typeface="Calibri"/>
              </a:rPr>
              <a:t>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fingerprints the loan file: NFToken URI = {v, loan, sha256, ptr}, nothing else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records every settlement leg to the cent with a six-key memo and no personal 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locks each verified impound bill until its statutory date; an early release fails on the ledger itself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proves servicing hand-offs and key-management drills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99A2E"/>
                </a:solidFill>
                <a:latin typeface="Calibri"/>
              </a:rPr>
              <a:t>Does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decide what the borrower owes: the servicer's books in the bank's custodial accounts are authoritative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replace the Note, Deed of Trust, lien, county record or custodial accounts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tokenize the note, sell interests in loans, or raise capital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 legal compliance, payee receipt, document validity or custody by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Live proof on XRPL Testnet: run-mtvzvtnk, September 10,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pic>
        <p:nvPicPr>
          <p:cNvPr id="7" name="Picture 6" descr="demo-live-2026-09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44621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vanfwilson.github.io/xrpl-mortgage-tokenizing-htm/demo (reads Testnet in the browser)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28016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Settlement legs journaled validated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of 75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Impound escrows finished on date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Early finish attempt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tecNO_PERMISSION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1-of-3 signature on a 2-of-3 list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tefBAD_QUORUM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2-of-3 signatures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tesSUCCESS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Master key after disable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tefMASTER_DISABLED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Bank = subledger =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matched, 0 unmatched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Business-event chain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19 events, verified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484632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F6B"/>
                </a:solidFill>
                <a:latin typeface="Calibri"/>
              </a:rPr>
              <a:t>Only transaction types live on Mainnet: Payment, NFTokenMint/Offer/Accept, EscrowCreate/Finish/Cancel, AccountSet, TrustSet, SetRegularKey, SignerListSet.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annual escrow analysis, to the cent (fixture: FHA 30-year, $450,000, Idaho)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Note = base + financed UFMIP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$450,000.00 = $442,260.44 + $7,739.56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P&amp;I, fixed for the life of the loan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$2,770.73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Tax impound (Ada County, Dec 20 / Jun 20)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$285.00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Hazard impound (renewal Sep 1)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$125.00 /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MIP (0.50 % of base, 78.98 % LTV)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$184.28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Monthly payment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$3,365.01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(4 % of P&amp;I, 24 CFR 203.25)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$110.83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Initial deposit at closing: $1,230.50 (tax $855.35, hazard $375.15). Year-one analysis: shortage $479.50; option elected: do nothing (1024.17(f)(3)).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December tax bill $1,710.00 exceeded the impound: servicer advanced $284.65 so the county was paid on time (1024.17(k)); the escrow released on the ledger only on Dec 20.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Year-two analysis: monthly escrow rises from $410.00 to $449.96; shortage spread over 12 months; annual statement delivered within 30 days with evidence.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A surplus of $50 or more would be refunded within 30 days; under $50 credited. California pays 2 % interest on impounds (Civ. Code 2954.8).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Regulation as code: 31 controls, one named test each, 127 offline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694944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the code enforces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RESPA 12 CFR 1024.17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aggregate method, one-sixth cushion, surplus / shortage / deficiency options, timely disbursement, initial and annual statements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R01-R10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1024.33, .35-.41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transfer notices and 60-day grace, notice of error, information requests, force-placed insurance, records, early intervention, loss mitigation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R11-R15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Regulation Z 1026.36(c), .41, .39, .3(a)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receipt-date credit, periodic statement content, ownership-transfer notice, consumer purpose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R16-R19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24 CFR 203.25, HUD ML 2023-05, 4000.1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cap 4 %, UFMIP and MIP on the base loan, custodial accounts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R20-R22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California Civ. Code 2954.8, 2954.85; Idaho 63-903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2 % impound interest, loss-draft account, tax calendar (Idaho interest rule gated as unverified)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R23-R25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Licensing, vendor oversight, GLBA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boarding refuses without a current authority; no operator keys; no PII on the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R26-R28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IRS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Form 1098 boxes from receipt-dated interest, 1099-INT threshold, 1099-A/C hand-offs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R29-R31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Every control appears in the examiner evidence pack's control map with the test names that carry it. npm test runs them all offline in seconds.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Settlement safety: sign once, journal first, never re-sign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Each leg is autofilled and signed once; the signed blob, its hash and a fingerprint are persisted under (company, loan, run, leg) before submission.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On a timeout the transport looks the hash up on the ledger and submits the identical blob only if unknown. A restart returns the validated job without signing or submitting (proven on Testnet after a database reopen).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Reusing a key for a different transaction is refused. A failed engine result is journaled and blocks silent replay.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Degraded mode is a written contract: servicing never blocks on the ledger; the bank's books stay authoritative; legs stay 'prepared' and resume safely.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35BA6"/>
                </a:solidFill>
                <a:latin typeface="Calibri"/>
              </a:rPr>
              <a:t>Evidence an examiner can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contract: bank_ref, posted_on, loan_ref, direction, amount; strict parse, one dollars-to-cents path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three-way match bank = subledger = ledger by reference; one cent off is a break, never absorbed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append-only, hash-chained business-event log (UPDATE and DELETE rejected by trigger)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npm run evidence: control map, every leg with explorer link, statements, tax forms, reconciliation, chain head, SHA-256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a loan-year costs on the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Production footprint per loan-year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Transactions (6 legs x 12 months + boarding + escrows)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Fees burned (10 drops each)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810 drops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Owner reserve parked (refundable)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0.8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$2 / XRP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$0.13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$5 /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280160"/>
          <a:ext cx="53949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463040"/>
                <a:gridCol w="137160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Loans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Tx / month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Hours (batched)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Reserve XRP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63,333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1.4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633,333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062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Fees are negligible at any plausible price; the only material line is the refundable reserve, and it stays under the $0.50 floor of the price band even at $5 per XRP.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Priced as an evidence and settlement add-on at $0.50 to $1.50 per loan per month on top of the servicing fee. Incumbent platforms charge $10 to $30 per loan per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Who we are and how we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High Tech Mortgage, Inc.: licensed California mortgage broker (DFPI and DRE), Sacramento, with an operations centre in Manila.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Loans: standard Fannie Mae uniform-instrument, fixed-rate, 30-year residential, funded and owned by banks under contract.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capital raising, no investors, no interests in loans sold. The note is not tokenized.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Manila team executes servicing tasks under dual control and never holds signing keys.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2194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A: servicer of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9377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HTM services its own clients' loans under its California licences through a servicing entity kept separate from the brokerage.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749039"/>
            <a:ext cx="5303520" cy="2286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B: bank's servicing contractor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A lending bank is the official servicer and keeps banking compliance and liability; HTM runs servicing operations and the technology. Several banks have asked for exactly this.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Twelve-month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822960"/>
                <a:gridCol w="6949440"/>
                <a:gridCol w="292608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Counsel memos (CA residential carve-outs, Idaho, custodial asset); first bank servicing contract or LOI; key-management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memos, LOI,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Live custodial statements via the receipt-file contract; daily three-way reconciliation; live tax-bill source behind an operator verification gate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reports, verified-bill trail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4-7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Full 1024.35-.41 case workflows with SLA evidence; statement PDFs with delivery evidence; dual-control task queue for Manila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fixtures, golden PDFs, queue log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6-9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Production key management (HSM, 2-of-3, rotation drills); settlement-asset decision with RLUSD / institutional teams; Mainnet dry-run criteria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drill logs, decision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8-10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Controlled pilot on real, redacted loan files with the contracting bank; Form 1098 season dry run; evidence packs to the bank's examiner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report, examiner feedback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9-11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Second-jurisdiction abstraction: legal layer separated from the engine, mapped for the Manila operation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jurisdiction matrix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11-12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Independent security review; public technical paper; refreshed demo; Mainnet go/no-go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review notes, paper, video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Budget $200,000 and grant-period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6035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XRPL settlement and evidence engineering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$60,000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and data engineering (bank receipts, tax-bill source, cases, PDFs, queue)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Security and independent technical review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Legal and regulatory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Document and AI ingestion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infrastructure and testing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Developer docs and open-source components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$7,000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$3,000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28016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By month 12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Boarded loan records (test and pilot)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Counterparties engaged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accuracy vs benchmark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99 %+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365760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Funding gates: build and integration (M1-M3) 30 %, $60,000; usage and pilot (M4-M7) 70 %, $140,000. Checkpoints at months 4, 7, 10 and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not yet true,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bank has signed a servicing contract yet; the operating assumptions are ours.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production stablecoin can be escrowed today (RLUSD issuers do not allow trust-line locking); the settlement asset is an open decision. The code refuses to build an escrow when the issuer flag is off.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California residential consumer-protection carve-outs and the Idaho servicing posture go to counsel before a live loan; the Idaho escrow-interest rule is gated as unverified in the engine.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Tax and hazard bills in the published runs come from a fixture; production needs a live bill source behind an operator verification gate (M2).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Documents are synthetic; production ingest hashes the custodian-held eNote, not a scan.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borrower portal or operator web UI yet: the product surface is the command line and the evidence pack.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Team (as published at hightechmortgage.com/about)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ch-young-hightechmortg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071562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Rich Young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Founder, President and Lead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DRE Broker's License #01106294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Mortgage Broker NMLS #291547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30+ years Bay Area real estate and mortgage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Owns origination, servicing and compliance obligations; licensed principal in both operating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n-wilson-hightechmortg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325880"/>
            <a:ext cx="1589345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Dr Van Wilson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Data Science, AI and Blockchain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20+ years in data science, mostly in finance; secret clearance while at the U.S. SEC and Fannie Mae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Fannie Mae: built the ML model forecasting mortgage payments after the COVID payment freeze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MIT post-graduate degree in data science and AI (2022); CSU Fullerton BS; AWS, Databricks, Blockchain Training Alliance, Microsoft Certified Trainer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Real-estate investor since 1998, 120+ transactions, $10M+ portfolio; built v2.0 · linkedin.com/in/drvanwilson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ish-wilson-hightechmortg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136240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Trish Wilson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Real Estate, Finance and PH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Active licensed US Realtor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Philippine Real Estate Broker PRC 0024025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CPA (St. Paul University, BA Accounting); Int'l Certified Financial Consultant; ex-internal auditor, Philippine Airlines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Leads Manila servicing operations under dual control; accounting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ill-thompson-hightechmortg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325880"/>
            <a:ext cx="146304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4400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Bill Thompson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Operations, IT and Business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ITIL v4; Six Sigma Quality; CompTIA A+; TOPCIT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Practical Project Mgmt; URAC; FranklinCovey Mgmt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Ateneo Graduate School of Business; CSU Dominguez Hills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Operations, infrastructure and process discipline; dual-control task queue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2545"/>
                </a:solidFill>
                <a:latin typeface="Calibri"/>
              </a:rPr>
              <a:t>$200,000 of milestone-gated funding over 12 months for the plan on slides 11 and 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Introductions to banks that outsource servicing operations, and to the RLUSD / institutional team on the custodial-asset question.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Everything stays open source: the canonical loan schema, the regulatory control map and its tests, the memo and receipt-file contracts, the evidence-pack format, the cost model.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Repository: github.com/vanfwilson/xrpl-mortgage-tokenizing-htm  ·  Live demo: vanfwilson.github.io/xrpl-mortgage-tokenizing-htm/demo  ·  Proposal: docs/grant-proposal-2026-09-10.pdf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High Tech Mortgage, Inc. · 730 I Street, Sacramento, CA 95814 · 19F Marco Polo Ortigas, Pasig City, Metro Manila · info@hightechmortgage.com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