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t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5852160" cy="1828800"/>
          </a:xfrm>
          <a:prstGeom prst="rect">
            <a:avLst/>
          </a:prstGeom>
        </p:spPr>
      </p:pic>
      <p:pic>
        <p:nvPicPr>
          <p:cNvPr id="4" name="Picture 3" descr="mortgageos-lockup-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14600"/>
            <a:ext cx="3840480" cy="13441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977639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Service a residential mortgage for thirty years.
Prove every dollar on the XRP Ledger.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57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9A2E"/>
                </a:solidFill>
                <a:latin typeface="Calibri"/>
              </a:rPr>
              <a:t>XRPL Grants proposal · $200,000 over 12 months · September 10, 2026</a:t>
            </a:r>
          </a:p>
          <a:p>
            <a:pPr algn="l"/>
            <a:r>
              <a:rPr sz="1600" b="0">
                <a:solidFill>
                  <a:srgbClr val="C99A2E"/>
                </a:solidFill>
                <a:latin typeface="Calibri"/>
              </a:rPr>
              <a:t>High Tech Mortgage, Inc. · Sacramento, California · Metro Manila, Philippines · v2.0.0 live on Testnet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 is the thirty years after closing, not the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servicing layer v2.0.0 · XRPL Grants proposal · September 10, 2026 · github.com/vanfwilson/xrpl-mortgage-tokenizing-htm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B2545"/>
                </a:solidFill>
                <a:latin typeface="Calibri"/>
              </a:rPr>
              <a:t>•  A mortgage is a thirty-year credit asset. The legal note, the servicing books, the cash flows and the evidence trail must stay consistent across tax changes, servicing transfers and audits.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B2545"/>
                </a:solidFill>
                <a:latin typeface="Calibri"/>
              </a:rPr>
              <a:t>•  Escrow mistakes, misapplied payments and late tax disbursements are the most common servicing failures and the most expensive to remediate.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B2545"/>
                </a:solidFill>
                <a:latin typeface="Calibri"/>
              </a:rPr>
              <a:t>•  Property taxes change every year without warning; the servicer must still pay the bill in full and on time (12 CFR 1024.17(k)) and recover through the annual analysis.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B2545"/>
                </a:solidFill>
                <a:latin typeface="Calibri"/>
              </a:rPr>
              <a:t>•  Incumbent servicing systems cost $10 to $30 per loan per month and expose no evidence an examiner can verify independently.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371600"/>
            <a:ext cx="4023360" cy="42062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5087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5BA6"/>
                </a:solidFill>
                <a:latin typeface="Calibri"/>
              </a:rPr>
              <a:t>What a servicer does every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0116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credit the payment as of the day received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remit P&amp;I to the bank that owns the note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reserve tax and hazard insurance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remit FHA mortgage insurance to HUD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pay county and carrier on statutory dates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analyse escrow once a year, send statements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file Form 1098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we built: MortgageOS™ servicing layer v2.0.0 (open source, MIT)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servicing layer v2.0.0 · XRPL Grants proposal · September 10, 2026 · github.com/vanfwilson/xrpl-mortgage-tokenizing-htm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7432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2743200" cy="502920"/>
          </a:xfrm>
          <a:prstGeom prst="rect">
            <a:avLst/>
          </a:prstGeom>
          <a:solidFill>
            <a:srgbClr val="13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Paper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23-page closing package printed, scanned, OCR'd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canonical loan record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every figure tied out to the cent; the run stops on any disagreement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280160"/>
            <a:ext cx="27432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280160"/>
            <a:ext cx="2743200" cy="502920"/>
          </a:xfrm>
          <a:prstGeom prst="rect">
            <a:avLst/>
          </a:prstGeom>
          <a:solidFill>
            <a:srgbClr val="13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3258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Servicing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74519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receipt-date application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12 CFR 1024.17 aggregate analysis with exact (f)(2)-(f)(4) options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advance-first disbursement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statements, cases, transfers, Form 1098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R01-R31 as code, one named test each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7432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2743200" cy="502920"/>
          </a:xfrm>
          <a:prstGeom prst="rect">
            <a:avLst/>
          </a:prstGeom>
          <a:solidFill>
            <a:srgbClr val="13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258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XRP Ledger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874519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exact-cent issued-USD legs, signed once, journaled, never re-signed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one NFToken loan-record handle (hash + opaque id)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TokenEscrow date lock on every verified bill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2-of-3 signer lists, key drills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280160"/>
            <a:ext cx="27432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280160"/>
            <a:ext cx="2743200" cy="502920"/>
          </a:xfrm>
          <a:prstGeom prst="rect">
            <a:avLst/>
          </a:prstGeom>
          <a:solidFill>
            <a:srgbClr val="13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3258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874519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bank receipt-file contract, three-way match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append-only hash-chained event log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examiner evidence pack with SHA-256 manifest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cost model per loan-year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the ledger does, and what it does 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servicing layer v2.0.0 · XRPL Grants proposal · September 10, 2026 · github.com/vanfwilson/xrpl-mortgage-tokenizing-htm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35BA6"/>
                </a:solidFill>
                <a:latin typeface="Calibri"/>
              </a:rPr>
              <a:t>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fingerprints the loan file: NFToken URI = {v, loan, sha256, ptr}, nothing else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records every settlement leg to the cent with a six-key memo and no personal data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locks each verified impound bill until its statutory date; an early release fails on the ledger itself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proves servicing hand-offs and key-management drills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9A2E"/>
                </a:solidFill>
                <a:latin typeface="Calibri"/>
              </a:rPr>
              <a:t>Does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decide what the borrower owes: the servicer's books in the bank's custodial accounts are authoritative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replace the Note, Deed of Trust, lien, county record or custodial accounts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tokenize the note, sell interests in loans, or raise capital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prove legal compliance, payee receipt, document validity or custody by itself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Live proof on XRPL Testnet: run-mtvzvtnk, September 10,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servicing layer v2.0.0 · XRPL Grants proposal · September 10, 2026 · github.com/vanfwilson/xrpl-mortgage-tokenizing-htm</a:t>
            </a:r>
          </a:p>
        </p:txBody>
      </p:sp>
      <p:pic>
        <p:nvPicPr>
          <p:cNvPr id="7" name="Picture 6" descr="demo-live-2026-09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949440" cy="44621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760720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Calibri"/>
              </a:rPr>
              <a:t>vanfwilson.github.io/xrpl-mortgage-tokenizing-htm/demo (reads Testnet in the browser)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680960" y="1280160"/>
          <a:ext cx="411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Proof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Ledger transactions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Settlement legs journaled validated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75 of 75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Impound escrows finished on date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Early finish attempt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refused: tecNO_PERMISSION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1-of-3 signature on a 2-of-3 list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refused: tefBAD_QUORUM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2-of-3 signatures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tesSUCCESS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Master key after disable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refused: tefMASTER_DISABLED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Bank = subledger = ledger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75 matched, 0 unmatched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Business-event chain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19 events, verified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80960" y="484632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Calibri"/>
              </a:rPr>
              <a:t>Only transaction types live on Mainnet: Payment, NFTokenMint/Offer/Accept, EscrowCreate/Finish/Cancel, AccountSet, TrustSet, SetRegularKey, SignerListSet.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annual escrow analysis, to the cent (fixture: FHA 30-year, $450,000, Idaho)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servicing layer v2.0.0 · XRPL Grants proposal · September 10, 2026 · github.com/vanfwilson/xrpl-mortgage-tokenizing-htm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Figure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Note = base + financed UFMIP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$450,000.00 = $442,260.44 + $7,739.56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P&amp;I, fixed for the life of the loan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$2,770.73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Tax impound (Ada County, Dec 20 / Jun 20)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$285.00 / month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Hazard impound (renewal Sep 1)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$125.00 / month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FHA MIP (0.50 % of base, 78.98 % LTV)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$184.28 / month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Monthly payment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$3,365.01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Late charge (4 % of P&amp;I, 24 CFR 203.25)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$110.83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Initial deposit at closing: $1,230.50 (tax $855.35, hazard $375.15). Year-one analysis: shortage $479.50; option elected: do nothing (1024.17(f)(3)).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December tax bill $1,710.00 exceeded the impound: servicer advanced $284.65 so the county was paid on time (1024.17(k)); the escrow released on the ledger only on Dec 20.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Year-two analysis: monthly escrow rises from $410.00 to $449.96; shortage spread over 12 months; annual statement delivered within 30 days with evidence.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A surplus of $50 or more would be refunded within 30 days; under $50 credited. California pays 2 % interest on impounds (Civ. Code 2954.8).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Regulation as code: 31 controls, one named test each, 127 offline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servicing layer v2.0.0 · XRPL Grants proposal · September 10, 2026 · github.com/vanfwilson/xrpl-mortgage-tokenizing-htm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6949440"/>
                <a:gridCol w="128016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the code enforces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RESPA 12 CFR 1024.17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aggregate method, one-sixth cushion, surplus / shortage / deficiency options, timely disbursement, initial and annual statements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R01-R10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1024.33, .35-.41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transfer notices and 60-day grace, notice of error, information requests, force-placed insurance, records, early intervention, loss mitigation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R11-R15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Regulation Z 1026.36(c), .41, .39, .3(a)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receipt-date credit, periodic statement content, ownership-transfer notice, consumer purpose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R16-R19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FHA 24 CFR 203.25, HUD ML 2023-05, 4000.1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late charge cap 4 %, UFMIP and MIP on the base loan, custodial accounts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R20-R22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California Civ. Code 2954.8, 2954.85; Idaho 63-903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2 % impound interest, loss-draft account, tax calendar (Idaho interest rule gated as unverified)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R23-R25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Licensing, vendor oversight, GLBA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boarding refuses without a current authority; no operator keys; no PII on the ledger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R26-R28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IRS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Form 1098 boxes from receipt-dated interest, 1099-INT threshold, 1099-A/C hand-offs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R29-R31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Calibri"/>
              </a:rPr>
              <a:t>Every control appears in the examiner evidence pack's control map with the test names that carry it. npm test runs them all offline in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Settlement safety: sign once, journal first, never re-sign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servicing layer v2.0.0 · XRPL Grants proposal · September 10, 2026 · github.com/vanfwilson/xrpl-mortgage-tokenizing-htm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Each leg is autofilled and signed once; the signed blob, its hash and a fingerprint are persisted under (company, loan, run, leg) before submission.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On a timeout the transport looks the hash up on the ledger and submits the identical blob only if unknown. A restart returns the validated job without signing or submitting (proven on Testnet after a database reopen).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Reusing a key for a different transaction is refused. A failed engine result is journaled and blocks silent replay.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Degraded mode is a written contract: servicing never blocks on the ledger; the bank's books stay authoritative; legs stay 'prepared' and resume safely.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303520" cy="47548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5BA6"/>
                </a:solidFill>
                <a:latin typeface="Calibri"/>
              </a:rPr>
              <a:t>Evidence an examiner can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bank receipt-file contract: bank_ref, posted_on, loan_ref, direction, amount; strict parse, one dollars-to-cents path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three-way match bank = subledger = ledger by reference; one cent off is a break, never absorbed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append-only, hash-chained business-event log (UPDATE and DELETE rejected by trigger)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npm run evidence: control map, every leg with explorer link, statements, tax forms, reconciliation, chain head, SHA-256 manifest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a loan-year costs on the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servicing layer v2.0.0 · XRPL Grants proposal · September 10, 2026 · github.com/vanfwilson/xrpl-mortgage-tokenizing-htm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64592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Production footprint per loan-year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Transactions (6 legs x 12 months + boarding + escrows)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Fees burned (10 drops each)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810 drops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Owner reserve parked (refundable)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0.8 XRP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All-in per loan-month at $2 / XRP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$0.13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All-in per loan-month at $5 / XRP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$0.33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280160"/>
          <a:ext cx="53949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371600"/>
                <a:gridCol w="1463040"/>
                <a:gridCol w="137160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Loans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Tx / month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Hours (batched)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Reserve XRP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6,333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0.14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10,000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63,333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100,000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633,333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80,000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2062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Fees are negligible at any plausible price; the only material line is the refundable reserve, and it stays under the $0.50 floor of the price band even at $5 per XRP.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Priced as an evidence and settlement add-on at $0.50 to $1.50 per loan per month on top of the servicing fee. Incumbent platforms charge $10 to $30 per loan per month.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Who we are and how we operate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servicing layer v2.0.0 · XRPL Grants proposal · September 10, 2026 · github.com/vanfwilson/xrpl-mortgage-tokenizing-htm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High Tech Mortgage, Inc.: licensed California mortgage broker (DFPI and DRE), Sacramento, with an operations centre in Manila.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Loans: standard Fannie Mae uniform-instrument, fixed-rate, 30-year residential, funded and owned by banks under contract.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No capital raising, no investors, no interests in loans sold. The note is not tokenized.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The Manila team executes servicing tasks under dual control and never holds signing keys.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303520" cy="21945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5BA6"/>
                </a:solidFill>
                <a:latin typeface="Calibri"/>
              </a:rPr>
              <a:t>Model A: servicer of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9377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Calibri"/>
              </a:rPr>
              <a:t>HTM services its own clients' loans under its California licences through a servicing entity kept separate from the brokerage.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749039"/>
            <a:ext cx="5303520" cy="2286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8404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5BA6"/>
                </a:solidFill>
                <a:latin typeface="Calibri"/>
              </a:rPr>
              <a:t>Model B: bank's servicing contractor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97680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Calibri"/>
              </a:rPr>
              <a:t>A lending bank is the official servicer and keeps banking compliance and liability; HTM runs servicing operations and the technology. Several banks have asked for exactly this.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Twelve-month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servicing layer v2.0.0 · XRPL Grants proposal · September 10, 2026 · github.com/vanfwilson/xrpl-mortgage-tokenizing-htm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822960"/>
                <a:gridCol w="6949440"/>
                <a:gridCol w="292608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Months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1-2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Counsel memos (CA residential carve-outs, Idaho, custodial asset); first bank servicing contract or LOI; key-management runbook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memos, LOI, runbook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2-4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Live custodial statements via the receipt-file contract; daily three-way reconciliation; live tax-bill source behind an operator verification gate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reconciliation reports, verified-bill trail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4-7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Full 1024.35-.41 case workflows with SLA evidence; statement PDFs with delivery evidence; dual-control task queue for Manila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fixtures, golden PDFs, queue log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6-9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Production key management (HSM, 2-of-3, rotation drills); settlement-asset decision with RLUSD / institutional teams; Mainnet dry-run criteria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drill logs, decision record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8-10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Controlled pilot on real, redacted loan files with the contracting bank; Form 1098 season dry run; evidence packs to the bank's examiner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pilot report, examiner feedback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9-11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Second-jurisdiction abstraction: legal layer separated from the engine, mapped for the Manila operation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jurisdiction matrix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M7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11-12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Independent security review; public technical paper; refreshed demo; Mainnet go/no-go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review notes, paper, video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Budget $200,000 and grant-period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servicing layer v2.0.0 · XRPL Grants proposal · September 10, 2026 · github.com/vanfwilson/xrpl-mortgage-tokenizing-htm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60350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28016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Workstream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XRPL settlement and evidence engineering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$60,000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Servicing and data engineering (bank receipts, tax-bill source, cases, PDFs, queue)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$50,000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Security and independent technical review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$25,000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Legal and regulatory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$25,000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Document and AI ingestion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$15,000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Pilot infrastructure and testing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$15,000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Developer docs and open-source components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$7,000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Contingency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$3,000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0" y="1280160"/>
          <a:ext cx="4937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46304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By month 12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Boarded loan records (test and pilot)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Ledger transactions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Servicing events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Counterparties engaged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Reconciliation accuracy vs benchmark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99 %+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365760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Calibri"/>
              </a:rPr>
              <a:t>Funding gates: build and integration (M1-M3) 30 %, $60,000; usage and pilot (M4-M7) 70 %, $140,000. Checkpoints at months 4, 7, 10 and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not yet true, stated plainly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servicing layer v2.0.0 · XRPL Grants proposal · September 10, 2026 · github.com/vanfwilson/xrpl-mortgage-tokenizing-htm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No bank has signed a servicing contract yet; the operating assumptions are ours.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No production stablecoin can be escrowed today (RLUSD issuers do not allow trust-line locking); the settlement asset is an open decision. The code refuses to build an escrow when the issuer flag is off.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California residential consumer-protection carve-outs and the Idaho servicing posture go to counsel before a live loan; the Idaho escrow-interest rule is gated as unverified in the engine.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Tax and hazard bills in the published runs come from a fixture; production needs a live bill source behind an operator verification gate (M2).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Documents are synthetic; production ingest hashes the custodian-held eNote, not a scan.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No borrower portal or operator web UI yet: the product surface is the command line and the evidence pack.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Team and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servicing layer v2.0.0 · XRPL Grants proposal · September 10, 2026 · github.com/vanfwilson/xrpl-mortgage-tokenizing-htm</a:t>
            </a:r>
          </a:p>
        </p:txBody>
      </p:sp>
      <p:pic>
        <p:nvPicPr>
          <p:cNvPr id="7" name="Picture 6" descr="rich-young-hightechmortg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272480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0632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Rich Young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Calibri"/>
              </a:rPr>
              <a:t>Founder, President, Lead Broker · CA DRE Broker #01106294 · NMLS #291547</a:t>
            </a:r>
          </a:p>
        </p:txBody>
      </p:sp>
      <p:pic>
        <p:nvPicPr>
          <p:cNvPr id="10" name="Picture 9" descr="van-wilson-hightechmortg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280160"/>
            <a:ext cx="1887347" cy="1737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37560" y="30632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Dr Van Wilson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3832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Calibri"/>
              </a:rPr>
              <a:t>Data Science, AI, Blockchain · MIT post-grad AI/data science · financial-industry data scientist · built v2.0</a:t>
            </a:r>
          </a:p>
        </p:txBody>
      </p:sp>
      <p:pic>
        <p:nvPicPr>
          <p:cNvPr id="13" name="Picture 12" descr="trish-wilson-hightechmortg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80160"/>
            <a:ext cx="1617850" cy="1737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30632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Trish Wilson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832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Calibri"/>
              </a:rPr>
              <a:t>Real Estate, Finance, PH Operations · US Realtor · PH Broker PRC 0024025 · CPA</a:t>
            </a:r>
          </a:p>
        </p:txBody>
      </p:sp>
      <p:pic>
        <p:nvPicPr>
          <p:cNvPr id="16" name="Picture 15" descr="bill-thompson-hightechmortg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1280160"/>
            <a:ext cx="1737360" cy="1737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98280" y="30632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"/>
              </a:rPr>
              <a:t>Bill Thompson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3832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Calibri"/>
              </a:rPr>
              <a:t>Operations, IT, Business 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5BA6"/>
                </a:solidFill>
                <a:latin typeface="Calibri"/>
              </a:rPr>
              <a:t>The 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4632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B2545"/>
                </a:solidFill>
                <a:latin typeface="Calibri"/>
              </a:rPr>
              <a:t>$200,000 of milestone-gated funding for the plan above, plus introductions to banks that outsource servicing operations and to the RLUSD / institutional team on the custodial-asset question.</a:t>
            </a:r>
          </a:p>
          <a:p>
            <a:pPr algn="l"/>
            <a:r>
              <a:rPr sz="1300" b="0">
                <a:solidFill>
                  <a:srgbClr val="0B2545"/>
                </a:solidFill>
                <a:latin typeface="Calibri"/>
              </a:rPr>
              <a:t>Repository: github.com/vanfwilson/xrpl-mortgage-tokenizing-htm · Demo: vanfwilson.github.io/xrpl-mortgage-tokenizing-htm/demo · Proposal: docs/grant-proposal-2026-09-10.pdf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